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32918400" cy="16459200"/>
  <p:notesSz cx="6858000" cy="9144000"/>
  <p:defaultTextStyle>
    <a:defPPr>
      <a:defRPr lang="en-US"/>
    </a:defPPr>
    <a:lvl1pPr marL="0" algn="l" defTabSz="1410641" rtl="0" eaLnBrk="1" latinLnBrk="0" hangingPunct="1">
      <a:defRPr sz="5600" kern="1200">
        <a:solidFill>
          <a:schemeClr val="tx1"/>
        </a:solidFill>
        <a:latin typeface="+mn-lt"/>
        <a:ea typeface="+mn-ea"/>
        <a:cs typeface="+mn-cs"/>
      </a:defRPr>
    </a:lvl1pPr>
    <a:lvl2pPr marL="1410641" algn="l" defTabSz="1410641" rtl="0" eaLnBrk="1" latinLnBrk="0" hangingPunct="1">
      <a:defRPr sz="5600" kern="1200">
        <a:solidFill>
          <a:schemeClr val="tx1"/>
        </a:solidFill>
        <a:latin typeface="+mn-lt"/>
        <a:ea typeface="+mn-ea"/>
        <a:cs typeface="+mn-cs"/>
      </a:defRPr>
    </a:lvl2pPr>
    <a:lvl3pPr marL="2821282" algn="l" defTabSz="1410641" rtl="0" eaLnBrk="1" latinLnBrk="0" hangingPunct="1">
      <a:defRPr sz="5600" kern="1200">
        <a:solidFill>
          <a:schemeClr val="tx1"/>
        </a:solidFill>
        <a:latin typeface="+mn-lt"/>
        <a:ea typeface="+mn-ea"/>
        <a:cs typeface="+mn-cs"/>
      </a:defRPr>
    </a:lvl3pPr>
    <a:lvl4pPr marL="4231923" algn="l" defTabSz="1410641" rtl="0" eaLnBrk="1" latinLnBrk="0" hangingPunct="1">
      <a:defRPr sz="5600" kern="1200">
        <a:solidFill>
          <a:schemeClr val="tx1"/>
        </a:solidFill>
        <a:latin typeface="+mn-lt"/>
        <a:ea typeface="+mn-ea"/>
        <a:cs typeface="+mn-cs"/>
      </a:defRPr>
    </a:lvl4pPr>
    <a:lvl5pPr marL="5642565" algn="l" defTabSz="1410641" rtl="0" eaLnBrk="1" latinLnBrk="0" hangingPunct="1">
      <a:defRPr sz="5600" kern="1200">
        <a:solidFill>
          <a:schemeClr val="tx1"/>
        </a:solidFill>
        <a:latin typeface="+mn-lt"/>
        <a:ea typeface="+mn-ea"/>
        <a:cs typeface="+mn-cs"/>
      </a:defRPr>
    </a:lvl5pPr>
    <a:lvl6pPr marL="7053206" algn="l" defTabSz="1410641" rtl="0" eaLnBrk="1" latinLnBrk="0" hangingPunct="1">
      <a:defRPr sz="5600" kern="1200">
        <a:solidFill>
          <a:schemeClr val="tx1"/>
        </a:solidFill>
        <a:latin typeface="+mn-lt"/>
        <a:ea typeface="+mn-ea"/>
        <a:cs typeface="+mn-cs"/>
      </a:defRPr>
    </a:lvl6pPr>
    <a:lvl7pPr marL="8463847" algn="l" defTabSz="1410641" rtl="0" eaLnBrk="1" latinLnBrk="0" hangingPunct="1">
      <a:defRPr sz="5600" kern="1200">
        <a:solidFill>
          <a:schemeClr val="tx1"/>
        </a:solidFill>
        <a:latin typeface="+mn-lt"/>
        <a:ea typeface="+mn-ea"/>
        <a:cs typeface="+mn-cs"/>
      </a:defRPr>
    </a:lvl7pPr>
    <a:lvl8pPr marL="9874489" algn="l" defTabSz="1410641" rtl="0" eaLnBrk="1" latinLnBrk="0" hangingPunct="1">
      <a:defRPr sz="5600" kern="1200">
        <a:solidFill>
          <a:schemeClr val="tx1"/>
        </a:solidFill>
        <a:latin typeface="+mn-lt"/>
        <a:ea typeface="+mn-ea"/>
        <a:cs typeface="+mn-cs"/>
      </a:defRPr>
    </a:lvl8pPr>
    <a:lvl9pPr marL="11285130" algn="l" defTabSz="1410641" rtl="0" eaLnBrk="1" latinLnBrk="0" hangingPunct="1">
      <a:defRPr sz="5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184">
          <p15:clr>
            <a:srgbClr val="A4A3A4"/>
          </p15:clr>
        </p15:guide>
        <p15:guide id="2" pos="103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5420"/>
    <a:srgbClr val="008A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64" autoAdjust="0"/>
    <p:restoredTop sz="94694"/>
  </p:normalViewPr>
  <p:slideViewPr>
    <p:cSldViewPr snapToGrid="0" snapToObjects="1">
      <p:cViewPr varScale="1">
        <p:scale>
          <a:sx n="48" d="100"/>
          <a:sy n="48" d="100"/>
        </p:scale>
        <p:origin x="848" y="240"/>
      </p:cViewPr>
      <p:guideLst>
        <p:guide orient="horz" pos="5184"/>
        <p:guide pos="10368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70" d="100"/>
          <a:sy n="70" d="100"/>
        </p:scale>
        <p:origin x="-2718" y="-11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9BB5CC-C2AC-4FC8-AB69-EF7B90924CDB}" type="datetimeFigureOut">
              <a:rPr lang="en-US" smtClean="0"/>
              <a:t>1/7/26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1A78EA-0900-461A-A8A0-C322E459CD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3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1A78EA-0900-461A-A8A0-C322E459CD8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680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5113021"/>
            <a:ext cx="27980640" cy="35280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7760" y="9326880"/>
            <a:ext cx="23042880" cy="420624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410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8212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2319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56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70532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84638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98744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12851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45920" y="15255241"/>
            <a:ext cx="7680960" cy="876300"/>
          </a:xfrm>
          <a:prstGeom prst="rect">
            <a:avLst/>
          </a:prstGeom>
        </p:spPr>
        <p:txBody>
          <a:bodyPr/>
          <a:lstStyle/>
          <a:p>
            <a:fld id="{C690973D-A9B2-0B41-B2F1-33F7058789E9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47120" y="15255241"/>
            <a:ext cx="10424160" cy="8763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3591520" y="15255241"/>
            <a:ext cx="7680960" cy="876300"/>
          </a:xfrm>
          <a:prstGeom prst="rect">
            <a:avLst/>
          </a:prstGeom>
        </p:spPr>
        <p:txBody>
          <a:bodyPr/>
          <a:lstStyle/>
          <a:p>
            <a:fld id="{72CCB087-DE05-D649-86B9-8141DA621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53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659131"/>
            <a:ext cx="29626560" cy="2743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5920" y="3840482"/>
            <a:ext cx="29626560" cy="108623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45920" y="15255241"/>
            <a:ext cx="7680960" cy="876300"/>
          </a:xfrm>
          <a:prstGeom prst="rect">
            <a:avLst/>
          </a:prstGeom>
        </p:spPr>
        <p:txBody>
          <a:bodyPr/>
          <a:lstStyle/>
          <a:p>
            <a:fld id="{C690973D-A9B2-0B41-B2F1-33F7058789E9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47120" y="15255241"/>
            <a:ext cx="10424160" cy="8763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3591520" y="15255241"/>
            <a:ext cx="7680960" cy="876300"/>
          </a:xfrm>
          <a:prstGeom prst="rect">
            <a:avLst/>
          </a:prstGeom>
        </p:spPr>
        <p:txBody>
          <a:bodyPr/>
          <a:lstStyle/>
          <a:p>
            <a:fld id="{72CCB087-DE05-D649-86B9-8141DA621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523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7" y="10576561"/>
            <a:ext cx="27980640" cy="3268980"/>
          </a:xfrm>
          <a:prstGeom prst="rect">
            <a:avLst/>
          </a:prstGeom>
        </p:spPr>
        <p:txBody>
          <a:bodyPr anchor="t"/>
          <a:lstStyle>
            <a:lvl1pPr algn="l">
              <a:defRPr sz="123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7" y="6976113"/>
            <a:ext cx="27980640" cy="360044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6200">
                <a:solidFill>
                  <a:schemeClr val="tx1">
                    <a:tint val="75000"/>
                  </a:schemeClr>
                </a:solidFill>
              </a:defRPr>
            </a:lvl1pPr>
            <a:lvl2pPr marL="1410641" indent="0">
              <a:buNone/>
              <a:defRPr sz="5600">
                <a:solidFill>
                  <a:schemeClr val="tx1">
                    <a:tint val="75000"/>
                  </a:schemeClr>
                </a:solidFill>
              </a:defRPr>
            </a:lvl2pPr>
            <a:lvl3pPr marL="2821282" indent="0">
              <a:buNone/>
              <a:defRPr sz="4900">
                <a:solidFill>
                  <a:schemeClr val="tx1">
                    <a:tint val="75000"/>
                  </a:schemeClr>
                </a:solidFill>
              </a:defRPr>
            </a:lvl3pPr>
            <a:lvl4pPr marL="4231923" indent="0">
              <a:buNone/>
              <a:defRPr sz="4300">
                <a:solidFill>
                  <a:schemeClr val="tx1">
                    <a:tint val="75000"/>
                  </a:schemeClr>
                </a:solidFill>
              </a:defRPr>
            </a:lvl4pPr>
            <a:lvl5pPr marL="5642565" indent="0">
              <a:buNone/>
              <a:defRPr sz="4300">
                <a:solidFill>
                  <a:schemeClr val="tx1">
                    <a:tint val="75000"/>
                  </a:schemeClr>
                </a:solidFill>
              </a:defRPr>
            </a:lvl5pPr>
            <a:lvl6pPr marL="7053206" indent="0">
              <a:buNone/>
              <a:defRPr sz="4300">
                <a:solidFill>
                  <a:schemeClr val="tx1">
                    <a:tint val="75000"/>
                  </a:schemeClr>
                </a:solidFill>
              </a:defRPr>
            </a:lvl6pPr>
            <a:lvl7pPr marL="8463847" indent="0">
              <a:buNone/>
              <a:defRPr sz="4300">
                <a:solidFill>
                  <a:schemeClr val="tx1">
                    <a:tint val="75000"/>
                  </a:schemeClr>
                </a:solidFill>
              </a:defRPr>
            </a:lvl7pPr>
            <a:lvl8pPr marL="9874489" indent="0">
              <a:buNone/>
              <a:defRPr sz="4300">
                <a:solidFill>
                  <a:schemeClr val="tx1">
                    <a:tint val="75000"/>
                  </a:schemeClr>
                </a:solidFill>
              </a:defRPr>
            </a:lvl8pPr>
            <a:lvl9pPr marL="11285130" indent="0">
              <a:buNone/>
              <a:defRPr sz="4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45920" y="15255241"/>
            <a:ext cx="7680960" cy="876300"/>
          </a:xfrm>
          <a:prstGeom prst="rect">
            <a:avLst/>
          </a:prstGeom>
        </p:spPr>
        <p:txBody>
          <a:bodyPr/>
          <a:lstStyle/>
          <a:p>
            <a:fld id="{C690973D-A9B2-0B41-B2F1-33F7058789E9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47120" y="15255241"/>
            <a:ext cx="10424160" cy="8763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3591520" y="15255241"/>
            <a:ext cx="7680960" cy="876300"/>
          </a:xfrm>
          <a:prstGeom prst="rect">
            <a:avLst/>
          </a:prstGeom>
        </p:spPr>
        <p:txBody>
          <a:bodyPr/>
          <a:lstStyle/>
          <a:p>
            <a:fld id="{72CCB087-DE05-D649-86B9-8141DA621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89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659131"/>
            <a:ext cx="29626560" cy="2743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18297" y="18432780"/>
            <a:ext cx="82678903" cy="52139851"/>
          </a:xfrm>
          <a:prstGeom prst="rect">
            <a:avLst/>
          </a:prstGeom>
        </p:spPr>
        <p:txBody>
          <a:bodyPr/>
          <a:lstStyle>
            <a:lvl1pPr>
              <a:defRPr sz="8600"/>
            </a:lvl1pPr>
            <a:lvl2pPr>
              <a:defRPr sz="7400"/>
            </a:lvl2pPr>
            <a:lvl3pPr>
              <a:defRPr sz="6200"/>
            </a:lvl3pPr>
            <a:lvl4pPr>
              <a:defRPr sz="5600"/>
            </a:lvl4pPr>
            <a:lvl5pPr>
              <a:defRPr sz="5600"/>
            </a:lvl5pPr>
            <a:lvl6pPr>
              <a:defRPr sz="5600"/>
            </a:lvl6pPr>
            <a:lvl7pPr>
              <a:defRPr sz="5600"/>
            </a:lvl7pPr>
            <a:lvl8pPr>
              <a:defRPr sz="5600"/>
            </a:lvl8pPr>
            <a:lvl9pPr>
              <a:defRPr sz="5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445842" y="18432780"/>
            <a:ext cx="82678907" cy="52139851"/>
          </a:xfrm>
          <a:prstGeom prst="rect">
            <a:avLst/>
          </a:prstGeom>
        </p:spPr>
        <p:txBody>
          <a:bodyPr/>
          <a:lstStyle>
            <a:lvl1pPr>
              <a:defRPr sz="8600"/>
            </a:lvl1pPr>
            <a:lvl2pPr>
              <a:defRPr sz="7400"/>
            </a:lvl2pPr>
            <a:lvl3pPr>
              <a:defRPr sz="6200"/>
            </a:lvl3pPr>
            <a:lvl4pPr>
              <a:defRPr sz="5600"/>
            </a:lvl4pPr>
            <a:lvl5pPr>
              <a:defRPr sz="5600"/>
            </a:lvl5pPr>
            <a:lvl6pPr>
              <a:defRPr sz="5600"/>
            </a:lvl6pPr>
            <a:lvl7pPr>
              <a:defRPr sz="5600"/>
            </a:lvl7pPr>
            <a:lvl8pPr>
              <a:defRPr sz="5600"/>
            </a:lvl8pPr>
            <a:lvl9pPr>
              <a:defRPr sz="5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0" y="15255241"/>
            <a:ext cx="7680960" cy="876300"/>
          </a:xfrm>
          <a:prstGeom prst="rect">
            <a:avLst/>
          </a:prstGeom>
        </p:spPr>
        <p:txBody>
          <a:bodyPr/>
          <a:lstStyle/>
          <a:p>
            <a:fld id="{C690973D-A9B2-0B41-B2F1-33F7058789E9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47120" y="15255241"/>
            <a:ext cx="10424160" cy="8763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3591520" y="15255241"/>
            <a:ext cx="7680960" cy="876300"/>
          </a:xfrm>
          <a:prstGeom prst="rect">
            <a:avLst/>
          </a:prstGeom>
        </p:spPr>
        <p:txBody>
          <a:bodyPr/>
          <a:lstStyle/>
          <a:p>
            <a:fld id="{72CCB087-DE05-D649-86B9-8141DA621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970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659131"/>
            <a:ext cx="29626560" cy="2743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3684271"/>
            <a:ext cx="14544677" cy="153542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7400" b="1"/>
            </a:lvl1pPr>
            <a:lvl2pPr marL="1410641" indent="0">
              <a:buNone/>
              <a:defRPr sz="6200" b="1"/>
            </a:lvl2pPr>
            <a:lvl3pPr marL="2821282" indent="0">
              <a:buNone/>
              <a:defRPr sz="5600" b="1"/>
            </a:lvl3pPr>
            <a:lvl4pPr marL="4231923" indent="0">
              <a:buNone/>
              <a:defRPr sz="4900" b="1"/>
            </a:lvl4pPr>
            <a:lvl5pPr marL="5642565" indent="0">
              <a:buNone/>
              <a:defRPr sz="4900" b="1"/>
            </a:lvl5pPr>
            <a:lvl6pPr marL="7053206" indent="0">
              <a:buNone/>
              <a:defRPr sz="4900" b="1"/>
            </a:lvl6pPr>
            <a:lvl7pPr marL="8463847" indent="0">
              <a:buNone/>
              <a:defRPr sz="4900" b="1"/>
            </a:lvl7pPr>
            <a:lvl8pPr marL="9874489" indent="0">
              <a:buNone/>
              <a:defRPr sz="4900" b="1"/>
            </a:lvl8pPr>
            <a:lvl9pPr marL="11285130" indent="0">
              <a:buNone/>
              <a:defRPr sz="4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920" y="5219700"/>
            <a:ext cx="14544677" cy="9483091"/>
          </a:xfrm>
          <a:prstGeom prst="rect">
            <a:avLst/>
          </a:prstGeom>
        </p:spPr>
        <p:txBody>
          <a:bodyPr/>
          <a:lstStyle>
            <a:lvl1pPr>
              <a:defRPr sz="7400"/>
            </a:lvl1pPr>
            <a:lvl2pPr>
              <a:defRPr sz="6200"/>
            </a:lvl2pPr>
            <a:lvl3pPr>
              <a:defRPr sz="5600"/>
            </a:lvl3pPr>
            <a:lvl4pPr>
              <a:defRPr sz="4900"/>
            </a:lvl4pPr>
            <a:lvl5pPr>
              <a:defRPr sz="4900"/>
            </a:lvl5pPr>
            <a:lvl6pPr>
              <a:defRPr sz="4900"/>
            </a:lvl6pPr>
            <a:lvl7pPr>
              <a:defRPr sz="4900"/>
            </a:lvl7pPr>
            <a:lvl8pPr>
              <a:defRPr sz="4900"/>
            </a:lvl8pPr>
            <a:lvl9pPr>
              <a:defRPr sz="4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092" y="3684271"/>
            <a:ext cx="14550390" cy="153542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7400" b="1"/>
            </a:lvl1pPr>
            <a:lvl2pPr marL="1410641" indent="0">
              <a:buNone/>
              <a:defRPr sz="6200" b="1"/>
            </a:lvl2pPr>
            <a:lvl3pPr marL="2821282" indent="0">
              <a:buNone/>
              <a:defRPr sz="5600" b="1"/>
            </a:lvl3pPr>
            <a:lvl4pPr marL="4231923" indent="0">
              <a:buNone/>
              <a:defRPr sz="4900" b="1"/>
            </a:lvl4pPr>
            <a:lvl5pPr marL="5642565" indent="0">
              <a:buNone/>
              <a:defRPr sz="4900" b="1"/>
            </a:lvl5pPr>
            <a:lvl6pPr marL="7053206" indent="0">
              <a:buNone/>
              <a:defRPr sz="4900" b="1"/>
            </a:lvl6pPr>
            <a:lvl7pPr marL="8463847" indent="0">
              <a:buNone/>
              <a:defRPr sz="4900" b="1"/>
            </a:lvl7pPr>
            <a:lvl8pPr marL="9874489" indent="0">
              <a:buNone/>
              <a:defRPr sz="4900" b="1"/>
            </a:lvl8pPr>
            <a:lvl9pPr marL="11285130" indent="0">
              <a:buNone/>
              <a:defRPr sz="4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092" y="5219700"/>
            <a:ext cx="14550390" cy="9483091"/>
          </a:xfrm>
          <a:prstGeom prst="rect">
            <a:avLst/>
          </a:prstGeom>
        </p:spPr>
        <p:txBody>
          <a:bodyPr/>
          <a:lstStyle>
            <a:lvl1pPr>
              <a:defRPr sz="7400"/>
            </a:lvl1pPr>
            <a:lvl2pPr>
              <a:defRPr sz="6200"/>
            </a:lvl2pPr>
            <a:lvl3pPr>
              <a:defRPr sz="5600"/>
            </a:lvl3pPr>
            <a:lvl4pPr>
              <a:defRPr sz="4900"/>
            </a:lvl4pPr>
            <a:lvl5pPr>
              <a:defRPr sz="4900"/>
            </a:lvl5pPr>
            <a:lvl6pPr>
              <a:defRPr sz="4900"/>
            </a:lvl6pPr>
            <a:lvl7pPr>
              <a:defRPr sz="4900"/>
            </a:lvl7pPr>
            <a:lvl8pPr>
              <a:defRPr sz="4900"/>
            </a:lvl8pPr>
            <a:lvl9pPr>
              <a:defRPr sz="4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645920" y="15255241"/>
            <a:ext cx="7680960" cy="876300"/>
          </a:xfrm>
          <a:prstGeom prst="rect">
            <a:avLst/>
          </a:prstGeom>
        </p:spPr>
        <p:txBody>
          <a:bodyPr/>
          <a:lstStyle/>
          <a:p>
            <a:fld id="{C690973D-A9B2-0B41-B2F1-33F7058789E9}" type="datetimeFigureOut">
              <a:rPr lang="en-US" smtClean="0"/>
              <a:t>1/7/26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247120" y="15255241"/>
            <a:ext cx="10424160" cy="8763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23591520" y="15255241"/>
            <a:ext cx="7680960" cy="876300"/>
          </a:xfrm>
          <a:prstGeom prst="rect">
            <a:avLst/>
          </a:prstGeom>
        </p:spPr>
        <p:txBody>
          <a:bodyPr/>
          <a:lstStyle/>
          <a:p>
            <a:fld id="{72CCB087-DE05-D649-86B9-8141DA621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203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659131"/>
            <a:ext cx="29626560" cy="2743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645920" y="15255241"/>
            <a:ext cx="7680960" cy="876300"/>
          </a:xfrm>
          <a:prstGeom prst="rect">
            <a:avLst/>
          </a:prstGeom>
        </p:spPr>
        <p:txBody>
          <a:bodyPr/>
          <a:lstStyle/>
          <a:p>
            <a:fld id="{C690973D-A9B2-0B41-B2F1-33F7058789E9}" type="datetimeFigureOut">
              <a:rPr lang="en-US" smtClean="0"/>
              <a:t>1/7/26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247120" y="15255241"/>
            <a:ext cx="10424160" cy="8763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3591520" y="15255241"/>
            <a:ext cx="7680960" cy="876300"/>
          </a:xfrm>
          <a:prstGeom prst="rect">
            <a:avLst/>
          </a:prstGeom>
        </p:spPr>
        <p:txBody>
          <a:bodyPr/>
          <a:lstStyle/>
          <a:p>
            <a:fld id="{72CCB087-DE05-D649-86B9-8141DA621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34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645920" y="15255241"/>
            <a:ext cx="7680960" cy="876300"/>
          </a:xfrm>
          <a:prstGeom prst="rect">
            <a:avLst/>
          </a:prstGeom>
        </p:spPr>
        <p:txBody>
          <a:bodyPr/>
          <a:lstStyle/>
          <a:p>
            <a:fld id="{C690973D-A9B2-0B41-B2F1-33F7058789E9}" type="datetimeFigureOut">
              <a:rPr lang="en-US" smtClean="0"/>
              <a:t>1/7/26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247120" y="15255241"/>
            <a:ext cx="10424160" cy="8763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3591520" y="15255241"/>
            <a:ext cx="7680960" cy="876300"/>
          </a:xfrm>
          <a:prstGeom prst="rect">
            <a:avLst/>
          </a:prstGeom>
        </p:spPr>
        <p:txBody>
          <a:bodyPr/>
          <a:lstStyle/>
          <a:p>
            <a:fld id="{72CCB087-DE05-D649-86B9-8141DA621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787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2" y="655320"/>
            <a:ext cx="10829927" cy="2788920"/>
          </a:xfrm>
          <a:prstGeom prst="rect">
            <a:avLst/>
          </a:prstGeom>
        </p:spPr>
        <p:txBody>
          <a:bodyPr anchor="b"/>
          <a:lstStyle>
            <a:lvl1pPr algn="l">
              <a:defRPr sz="6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180" y="655322"/>
            <a:ext cx="18402300" cy="14047471"/>
          </a:xfrm>
          <a:prstGeom prst="rect">
            <a:avLst/>
          </a:prstGeom>
        </p:spPr>
        <p:txBody>
          <a:bodyPr/>
          <a:lstStyle>
            <a:lvl1pPr>
              <a:defRPr sz="9900"/>
            </a:lvl1pPr>
            <a:lvl2pPr>
              <a:defRPr sz="8600"/>
            </a:lvl2pPr>
            <a:lvl3pPr>
              <a:defRPr sz="7400"/>
            </a:lvl3pPr>
            <a:lvl4pPr>
              <a:defRPr sz="6200"/>
            </a:lvl4pPr>
            <a:lvl5pPr>
              <a:defRPr sz="6200"/>
            </a:lvl5pPr>
            <a:lvl6pPr>
              <a:defRPr sz="6200"/>
            </a:lvl6pPr>
            <a:lvl7pPr>
              <a:defRPr sz="6200"/>
            </a:lvl7pPr>
            <a:lvl8pPr>
              <a:defRPr sz="6200"/>
            </a:lvl8pPr>
            <a:lvl9pPr>
              <a:defRPr sz="6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2" y="3444242"/>
            <a:ext cx="10829927" cy="112585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300"/>
            </a:lvl1pPr>
            <a:lvl2pPr marL="1410641" indent="0">
              <a:buNone/>
              <a:defRPr sz="3700"/>
            </a:lvl2pPr>
            <a:lvl3pPr marL="2821282" indent="0">
              <a:buNone/>
              <a:defRPr sz="3100"/>
            </a:lvl3pPr>
            <a:lvl4pPr marL="4231923" indent="0">
              <a:buNone/>
              <a:defRPr sz="2800"/>
            </a:lvl4pPr>
            <a:lvl5pPr marL="5642565" indent="0">
              <a:buNone/>
              <a:defRPr sz="2800"/>
            </a:lvl5pPr>
            <a:lvl6pPr marL="7053206" indent="0">
              <a:buNone/>
              <a:defRPr sz="2800"/>
            </a:lvl6pPr>
            <a:lvl7pPr marL="8463847" indent="0">
              <a:buNone/>
              <a:defRPr sz="2800"/>
            </a:lvl7pPr>
            <a:lvl8pPr marL="9874489" indent="0">
              <a:buNone/>
              <a:defRPr sz="2800"/>
            </a:lvl8pPr>
            <a:lvl9pPr marL="11285130" indent="0">
              <a:buNone/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0" y="15255241"/>
            <a:ext cx="7680960" cy="876300"/>
          </a:xfrm>
          <a:prstGeom prst="rect">
            <a:avLst/>
          </a:prstGeom>
        </p:spPr>
        <p:txBody>
          <a:bodyPr/>
          <a:lstStyle/>
          <a:p>
            <a:fld id="{C690973D-A9B2-0B41-B2F1-33F7058789E9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47120" y="15255241"/>
            <a:ext cx="10424160" cy="8763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3591520" y="15255241"/>
            <a:ext cx="7680960" cy="876300"/>
          </a:xfrm>
          <a:prstGeom prst="rect">
            <a:avLst/>
          </a:prstGeom>
        </p:spPr>
        <p:txBody>
          <a:bodyPr/>
          <a:lstStyle/>
          <a:p>
            <a:fld id="{72CCB087-DE05-D649-86B9-8141DA621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014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2237" y="11521440"/>
            <a:ext cx="19751040" cy="1360171"/>
          </a:xfrm>
          <a:prstGeom prst="rect">
            <a:avLst/>
          </a:prstGeom>
        </p:spPr>
        <p:txBody>
          <a:bodyPr anchor="b"/>
          <a:lstStyle>
            <a:lvl1pPr algn="l">
              <a:defRPr sz="6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2237" y="1470660"/>
            <a:ext cx="19751040" cy="98755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900"/>
            </a:lvl1pPr>
            <a:lvl2pPr marL="1410641" indent="0">
              <a:buNone/>
              <a:defRPr sz="8600"/>
            </a:lvl2pPr>
            <a:lvl3pPr marL="2821282" indent="0">
              <a:buNone/>
              <a:defRPr sz="7400"/>
            </a:lvl3pPr>
            <a:lvl4pPr marL="4231923" indent="0">
              <a:buNone/>
              <a:defRPr sz="6200"/>
            </a:lvl4pPr>
            <a:lvl5pPr marL="5642565" indent="0">
              <a:buNone/>
              <a:defRPr sz="6200"/>
            </a:lvl5pPr>
            <a:lvl6pPr marL="7053206" indent="0">
              <a:buNone/>
              <a:defRPr sz="6200"/>
            </a:lvl6pPr>
            <a:lvl7pPr marL="8463847" indent="0">
              <a:buNone/>
              <a:defRPr sz="6200"/>
            </a:lvl7pPr>
            <a:lvl8pPr marL="9874489" indent="0">
              <a:buNone/>
              <a:defRPr sz="6200"/>
            </a:lvl8pPr>
            <a:lvl9pPr marL="11285130" indent="0">
              <a:buNone/>
              <a:defRPr sz="62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2237" y="12881611"/>
            <a:ext cx="19751040" cy="19316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300"/>
            </a:lvl1pPr>
            <a:lvl2pPr marL="1410641" indent="0">
              <a:buNone/>
              <a:defRPr sz="3700"/>
            </a:lvl2pPr>
            <a:lvl3pPr marL="2821282" indent="0">
              <a:buNone/>
              <a:defRPr sz="3100"/>
            </a:lvl3pPr>
            <a:lvl4pPr marL="4231923" indent="0">
              <a:buNone/>
              <a:defRPr sz="2800"/>
            </a:lvl4pPr>
            <a:lvl5pPr marL="5642565" indent="0">
              <a:buNone/>
              <a:defRPr sz="2800"/>
            </a:lvl5pPr>
            <a:lvl6pPr marL="7053206" indent="0">
              <a:buNone/>
              <a:defRPr sz="2800"/>
            </a:lvl6pPr>
            <a:lvl7pPr marL="8463847" indent="0">
              <a:buNone/>
              <a:defRPr sz="2800"/>
            </a:lvl7pPr>
            <a:lvl8pPr marL="9874489" indent="0">
              <a:buNone/>
              <a:defRPr sz="2800"/>
            </a:lvl8pPr>
            <a:lvl9pPr marL="11285130" indent="0">
              <a:buNone/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0" y="15255241"/>
            <a:ext cx="7680960" cy="876300"/>
          </a:xfrm>
          <a:prstGeom prst="rect">
            <a:avLst/>
          </a:prstGeom>
        </p:spPr>
        <p:txBody>
          <a:bodyPr/>
          <a:lstStyle/>
          <a:p>
            <a:fld id="{C690973D-A9B2-0B41-B2F1-33F7058789E9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47120" y="15255241"/>
            <a:ext cx="10424160" cy="8763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3591520" y="15255241"/>
            <a:ext cx="7680960" cy="876300"/>
          </a:xfrm>
          <a:prstGeom prst="rect">
            <a:avLst/>
          </a:prstGeom>
        </p:spPr>
        <p:txBody>
          <a:bodyPr/>
          <a:lstStyle/>
          <a:p>
            <a:fld id="{72CCB087-DE05-D649-86B9-8141DA621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643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659131"/>
            <a:ext cx="29626560" cy="2743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45920" y="3840482"/>
            <a:ext cx="29626560" cy="1086231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45920" y="15255241"/>
            <a:ext cx="7680960" cy="876300"/>
          </a:xfrm>
          <a:prstGeom prst="rect">
            <a:avLst/>
          </a:prstGeom>
        </p:spPr>
        <p:txBody>
          <a:bodyPr/>
          <a:lstStyle/>
          <a:p>
            <a:fld id="{C690973D-A9B2-0B41-B2F1-33F7058789E9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47120" y="15255241"/>
            <a:ext cx="10424160" cy="8763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3591520" y="15255241"/>
            <a:ext cx="7680960" cy="876300"/>
          </a:xfrm>
          <a:prstGeom prst="rect">
            <a:avLst/>
          </a:prstGeom>
        </p:spPr>
        <p:txBody>
          <a:bodyPr/>
          <a:lstStyle/>
          <a:p>
            <a:fld id="{72CCB087-DE05-D649-86B9-8141DA621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906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3650990" y="3162300"/>
            <a:ext cx="41473757" cy="67410331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18299" y="3162300"/>
            <a:ext cx="123884053" cy="6741033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45920" y="15255241"/>
            <a:ext cx="7680960" cy="876300"/>
          </a:xfrm>
          <a:prstGeom prst="rect">
            <a:avLst/>
          </a:prstGeom>
        </p:spPr>
        <p:txBody>
          <a:bodyPr/>
          <a:lstStyle/>
          <a:p>
            <a:fld id="{C690973D-A9B2-0B41-B2F1-33F7058789E9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47120" y="15255241"/>
            <a:ext cx="10424160" cy="8763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3591520" y="15255241"/>
            <a:ext cx="7680960" cy="876300"/>
          </a:xfrm>
          <a:prstGeom prst="rect">
            <a:avLst/>
          </a:prstGeom>
        </p:spPr>
        <p:txBody>
          <a:bodyPr/>
          <a:lstStyle/>
          <a:p>
            <a:fld id="{72CCB087-DE05-D649-86B9-8141DA621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539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6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280"/>
            <a:ext cx="32918399" cy="2415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accent1"/>
                  </a:outerShdw>
                </a:effectLst>
              </a14:hiddenEffects>
            </a:ext>
          </a:extLst>
        </p:spPr>
      </p:pic>
      <p:pic>
        <p:nvPicPr>
          <p:cNvPr id="8" name="Picture 17" descr="CTR-Logo-no-bckgrnd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50" y="145350"/>
            <a:ext cx="6105437" cy="21862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</p:pic>
      <p:pic>
        <p:nvPicPr>
          <p:cNvPr id="9" name="Picture 23" descr="UTwordmarkTag2012Ltd_LG_White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11" t="24161" r="15222" b="30479"/>
          <a:stretch>
            <a:fillRect/>
          </a:stretch>
        </p:blipFill>
        <p:spPr bwMode="auto">
          <a:xfrm>
            <a:off x="27767709" y="145351"/>
            <a:ext cx="4836576" cy="2447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</p:pic>
      <p:cxnSp>
        <p:nvCxnSpPr>
          <p:cNvPr id="10" name="Straight Connector 9"/>
          <p:cNvCxnSpPr/>
          <p:nvPr userDrawn="1"/>
        </p:nvCxnSpPr>
        <p:spPr>
          <a:xfrm>
            <a:off x="-14372" y="2494815"/>
            <a:ext cx="32918400" cy="0"/>
          </a:xfrm>
          <a:prstGeom prst="line">
            <a:avLst/>
          </a:prstGeom>
          <a:ln w="165100">
            <a:solidFill>
              <a:srgbClr val="008A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-10888" y="2647215"/>
            <a:ext cx="32918400" cy="0"/>
          </a:xfrm>
          <a:prstGeom prst="line">
            <a:avLst/>
          </a:prstGeom>
          <a:ln w="165100">
            <a:solidFill>
              <a:srgbClr val="CA54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 userDrawn="1"/>
        </p:nvSpPr>
        <p:spPr>
          <a:xfrm>
            <a:off x="0" y="15889116"/>
            <a:ext cx="32918400" cy="457200"/>
          </a:xfrm>
          <a:prstGeom prst="rect">
            <a:avLst/>
          </a:prstGeom>
          <a:solidFill>
            <a:srgbClr val="008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 userDrawn="1"/>
        </p:nvSpPr>
        <p:spPr>
          <a:xfrm>
            <a:off x="27337407" y="15873868"/>
            <a:ext cx="67593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collaborate. innovate. educate.</a:t>
            </a:r>
          </a:p>
        </p:txBody>
      </p:sp>
    </p:spTree>
    <p:extLst>
      <p:ext uri="{BB962C8B-B14F-4D97-AF65-F5344CB8AC3E}">
        <p14:creationId xmlns:p14="http://schemas.microsoft.com/office/powerpoint/2010/main" val="571196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410641" rtl="0" eaLnBrk="1" latinLnBrk="0" hangingPunct="1">
        <a:spcBef>
          <a:spcPct val="0"/>
        </a:spcBef>
        <a:buNone/>
        <a:defRPr sz="1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57981" indent="-1057981" algn="l" defTabSz="1410641" rtl="0" eaLnBrk="1" latinLnBrk="0" hangingPunct="1">
        <a:spcBef>
          <a:spcPct val="20000"/>
        </a:spcBef>
        <a:buFont typeface="Arial"/>
        <a:buChar char="•"/>
        <a:defRPr sz="9900" kern="1200">
          <a:solidFill>
            <a:schemeClr val="tx1"/>
          </a:solidFill>
          <a:latin typeface="+mn-lt"/>
          <a:ea typeface="+mn-ea"/>
          <a:cs typeface="+mn-cs"/>
        </a:defRPr>
      </a:lvl1pPr>
      <a:lvl2pPr marL="2292292" indent="-881651" algn="l" defTabSz="1410641" rtl="0" eaLnBrk="1" latinLnBrk="0" hangingPunct="1">
        <a:spcBef>
          <a:spcPct val="20000"/>
        </a:spcBef>
        <a:buFont typeface="Arial"/>
        <a:buChar char="–"/>
        <a:defRPr sz="8600" kern="1200">
          <a:solidFill>
            <a:schemeClr val="tx1"/>
          </a:solidFill>
          <a:latin typeface="+mn-lt"/>
          <a:ea typeface="+mn-ea"/>
          <a:cs typeface="+mn-cs"/>
        </a:defRPr>
      </a:lvl2pPr>
      <a:lvl3pPr marL="3526603" indent="-705321" algn="l" defTabSz="1410641" rtl="0" eaLnBrk="1" latinLnBrk="0" hangingPunct="1">
        <a:spcBef>
          <a:spcPct val="20000"/>
        </a:spcBef>
        <a:buFont typeface="Arial"/>
        <a:buChar char="•"/>
        <a:defRPr sz="7400" kern="1200">
          <a:solidFill>
            <a:schemeClr val="tx1"/>
          </a:solidFill>
          <a:latin typeface="+mn-lt"/>
          <a:ea typeface="+mn-ea"/>
          <a:cs typeface="+mn-cs"/>
        </a:defRPr>
      </a:lvl3pPr>
      <a:lvl4pPr marL="4937244" indent="-705321" algn="l" defTabSz="1410641" rtl="0" eaLnBrk="1" latinLnBrk="0" hangingPunct="1">
        <a:spcBef>
          <a:spcPct val="20000"/>
        </a:spcBef>
        <a:buFont typeface="Arial"/>
        <a:buChar char="–"/>
        <a:defRPr sz="6200" kern="1200">
          <a:solidFill>
            <a:schemeClr val="tx1"/>
          </a:solidFill>
          <a:latin typeface="+mn-lt"/>
          <a:ea typeface="+mn-ea"/>
          <a:cs typeface="+mn-cs"/>
        </a:defRPr>
      </a:lvl4pPr>
      <a:lvl5pPr marL="6347886" indent="-705321" algn="l" defTabSz="1410641" rtl="0" eaLnBrk="1" latinLnBrk="0" hangingPunct="1">
        <a:spcBef>
          <a:spcPct val="20000"/>
        </a:spcBef>
        <a:buFont typeface="Arial"/>
        <a:buChar char="»"/>
        <a:defRPr sz="6200" kern="1200">
          <a:solidFill>
            <a:schemeClr val="tx1"/>
          </a:solidFill>
          <a:latin typeface="+mn-lt"/>
          <a:ea typeface="+mn-ea"/>
          <a:cs typeface="+mn-cs"/>
        </a:defRPr>
      </a:lvl5pPr>
      <a:lvl6pPr marL="7758527" indent="-705321" algn="l" defTabSz="1410641" rtl="0" eaLnBrk="1" latinLnBrk="0" hangingPunct="1">
        <a:spcBef>
          <a:spcPct val="20000"/>
        </a:spcBef>
        <a:buFont typeface="Arial"/>
        <a:buChar char="•"/>
        <a:defRPr sz="6200" kern="1200">
          <a:solidFill>
            <a:schemeClr val="tx1"/>
          </a:solidFill>
          <a:latin typeface="+mn-lt"/>
          <a:ea typeface="+mn-ea"/>
          <a:cs typeface="+mn-cs"/>
        </a:defRPr>
      </a:lvl6pPr>
      <a:lvl7pPr marL="9169168" indent="-705321" algn="l" defTabSz="1410641" rtl="0" eaLnBrk="1" latinLnBrk="0" hangingPunct="1">
        <a:spcBef>
          <a:spcPct val="20000"/>
        </a:spcBef>
        <a:buFont typeface="Arial"/>
        <a:buChar char="•"/>
        <a:defRPr sz="6200" kern="1200">
          <a:solidFill>
            <a:schemeClr val="tx1"/>
          </a:solidFill>
          <a:latin typeface="+mn-lt"/>
          <a:ea typeface="+mn-ea"/>
          <a:cs typeface="+mn-cs"/>
        </a:defRPr>
      </a:lvl7pPr>
      <a:lvl8pPr marL="10579809" indent="-705321" algn="l" defTabSz="1410641" rtl="0" eaLnBrk="1" latinLnBrk="0" hangingPunct="1">
        <a:spcBef>
          <a:spcPct val="20000"/>
        </a:spcBef>
        <a:buFont typeface="Arial"/>
        <a:buChar char="•"/>
        <a:defRPr sz="6200" kern="1200">
          <a:solidFill>
            <a:schemeClr val="tx1"/>
          </a:solidFill>
          <a:latin typeface="+mn-lt"/>
          <a:ea typeface="+mn-ea"/>
          <a:cs typeface="+mn-cs"/>
        </a:defRPr>
      </a:lvl8pPr>
      <a:lvl9pPr marL="11990450" indent="-705321" algn="l" defTabSz="1410641" rtl="0" eaLnBrk="1" latinLnBrk="0" hangingPunct="1">
        <a:spcBef>
          <a:spcPct val="20000"/>
        </a:spcBef>
        <a:buFont typeface="Arial"/>
        <a:buChar char="•"/>
        <a:defRPr sz="6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10641" rtl="0" eaLnBrk="1" latinLnBrk="0" hangingPunct="1"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410641" algn="l" defTabSz="1410641" rtl="0" eaLnBrk="1" latinLnBrk="0" hangingPunct="1">
        <a:defRPr sz="5600" kern="1200">
          <a:solidFill>
            <a:schemeClr val="tx1"/>
          </a:solidFill>
          <a:latin typeface="+mn-lt"/>
          <a:ea typeface="+mn-ea"/>
          <a:cs typeface="+mn-cs"/>
        </a:defRPr>
      </a:lvl2pPr>
      <a:lvl3pPr marL="2821282" algn="l" defTabSz="1410641" rtl="0" eaLnBrk="1" latinLnBrk="0" hangingPunct="1">
        <a:defRPr sz="5600" kern="1200">
          <a:solidFill>
            <a:schemeClr val="tx1"/>
          </a:solidFill>
          <a:latin typeface="+mn-lt"/>
          <a:ea typeface="+mn-ea"/>
          <a:cs typeface="+mn-cs"/>
        </a:defRPr>
      </a:lvl3pPr>
      <a:lvl4pPr marL="4231923" algn="l" defTabSz="1410641" rtl="0" eaLnBrk="1" latinLnBrk="0" hangingPunct="1">
        <a:defRPr sz="5600" kern="1200">
          <a:solidFill>
            <a:schemeClr val="tx1"/>
          </a:solidFill>
          <a:latin typeface="+mn-lt"/>
          <a:ea typeface="+mn-ea"/>
          <a:cs typeface="+mn-cs"/>
        </a:defRPr>
      </a:lvl4pPr>
      <a:lvl5pPr marL="5642565" algn="l" defTabSz="1410641" rtl="0" eaLnBrk="1" latinLnBrk="0" hangingPunct="1">
        <a:defRPr sz="5600" kern="1200">
          <a:solidFill>
            <a:schemeClr val="tx1"/>
          </a:solidFill>
          <a:latin typeface="+mn-lt"/>
          <a:ea typeface="+mn-ea"/>
          <a:cs typeface="+mn-cs"/>
        </a:defRPr>
      </a:lvl5pPr>
      <a:lvl6pPr marL="7053206" algn="l" defTabSz="1410641" rtl="0" eaLnBrk="1" latinLnBrk="0" hangingPunct="1">
        <a:defRPr sz="5600" kern="1200">
          <a:solidFill>
            <a:schemeClr val="tx1"/>
          </a:solidFill>
          <a:latin typeface="+mn-lt"/>
          <a:ea typeface="+mn-ea"/>
          <a:cs typeface="+mn-cs"/>
        </a:defRPr>
      </a:lvl6pPr>
      <a:lvl7pPr marL="8463847" algn="l" defTabSz="1410641" rtl="0" eaLnBrk="1" latinLnBrk="0" hangingPunct="1">
        <a:defRPr sz="5600" kern="1200">
          <a:solidFill>
            <a:schemeClr val="tx1"/>
          </a:solidFill>
          <a:latin typeface="+mn-lt"/>
          <a:ea typeface="+mn-ea"/>
          <a:cs typeface="+mn-cs"/>
        </a:defRPr>
      </a:lvl7pPr>
      <a:lvl8pPr marL="9874489" algn="l" defTabSz="1410641" rtl="0" eaLnBrk="1" latinLnBrk="0" hangingPunct="1">
        <a:defRPr sz="5600" kern="1200">
          <a:solidFill>
            <a:schemeClr val="tx1"/>
          </a:solidFill>
          <a:latin typeface="+mn-lt"/>
          <a:ea typeface="+mn-ea"/>
          <a:cs typeface="+mn-cs"/>
        </a:defRPr>
      </a:lvl8pPr>
      <a:lvl9pPr marL="11285130" algn="l" defTabSz="1410641" rtl="0" eaLnBrk="1" latinLnBrk="0" hangingPunct="1">
        <a:defRPr sz="5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25"/>
          <p:cNvSpPr txBox="1">
            <a:spLocks noChangeArrowheads="1"/>
          </p:cNvSpPr>
          <p:nvPr/>
        </p:nvSpPr>
        <p:spPr bwMode="auto">
          <a:xfrm>
            <a:off x="6259895" y="176258"/>
            <a:ext cx="21574125" cy="2118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itchFamily="34" charset="0"/>
                <a:cs typeface="Arial" pitchFamily="34" charset="0"/>
              </a:rPr>
              <a:t>Computing Roadway Weather Variables using Gridded Weather Data: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48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A Proof of Concept in Texas</a:t>
            </a:r>
            <a:endParaRPr kumimoji="0" lang="en-US" altLang="en-US" sz="48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cs typeface="Arial" pitchFamily="34" charset="0"/>
              </a:rPr>
              <a:t>Y</a:t>
            </a:r>
            <a:r>
              <a:rPr kumimoji="0" lang="en-US" altLang="zh-CN" sz="4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cs typeface="Arial" pitchFamily="34" charset="0"/>
              </a:rPr>
              <a:t>u Li, </a:t>
            </a: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cs typeface="Arial" pitchFamily="34" charset="0"/>
              </a:rPr>
              <a:t>Adam </a:t>
            </a:r>
            <a:r>
              <a:rPr lang="en-US" sz="4000" b="1" dirty="0" err="1">
                <a:solidFill>
                  <a:srgbClr val="FFFFFF"/>
                </a:solidFill>
                <a:latin typeface="Calibri" pitchFamily="34" charset="0"/>
                <a:cs typeface="Arial" pitchFamily="34" charset="0"/>
              </a:rPr>
              <a:t>Kosicki</a:t>
            </a:r>
            <a:r>
              <a:rPr lang="en-US" altLang="zh-CN" sz="4000" b="1" dirty="0">
                <a:solidFill>
                  <a:srgbClr val="FFFFFF"/>
                </a:solidFill>
                <a:latin typeface="Calibri" pitchFamily="34" charset="0"/>
                <a:cs typeface="Arial" pitchFamily="34" charset="0"/>
              </a:rPr>
              <a:t>, </a:t>
            </a: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cs typeface="Arial" pitchFamily="34" charset="0"/>
              </a:rPr>
              <a:t>Saddam Hossain, </a:t>
            </a:r>
            <a:r>
              <a:rPr lang="en-US" altLang="zh-CN" sz="4000" b="1" dirty="0">
                <a:solidFill>
                  <a:srgbClr val="FFFFFF"/>
                </a:solidFill>
                <a:latin typeface="Calibri" pitchFamily="34" charset="0"/>
                <a:cs typeface="Arial" pitchFamily="34" charset="0"/>
              </a:rPr>
              <a:t>Natalia Ruiz-</a:t>
            </a:r>
            <a:r>
              <a:rPr lang="en-US" altLang="zh-CN" sz="4000" b="1" dirty="0" err="1">
                <a:solidFill>
                  <a:srgbClr val="FFFFFF"/>
                </a:solidFill>
                <a:latin typeface="Calibri" pitchFamily="34" charset="0"/>
                <a:cs typeface="Arial" pitchFamily="34" charset="0"/>
              </a:rPr>
              <a:t>Juri</a:t>
            </a:r>
            <a:endParaRPr lang="en-US" sz="4000" b="1" dirty="0">
              <a:solidFill>
                <a:srgbClr val="FFFFFF"/>
              </a:solidFill>
              <a:latin typeface="Calibri" pitchFamily="34" charset="0"/>
              <a:cs typeface="Arial" pitchFamily="34" charset="0"/>
            </a:endParaRP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Text Box 28"/>
          <p:cNvSpPr txBox="1">
            <a:spLocks noChangeArrowheads="1"/>
          </p:cNvSpPr>
          <p:nvPr/>
        </p:nvSpPr>
        <p:spPr bwMode="auto">
          <a:xfrm>
            <a:off x="9109056" y="3014210"/>
            <a:ext cx="12790823" cy="845349"/>
          </a:xfrm>
          <a:prstGeom prst="rect">
            <a:avLst/>
          </a:prstGeom>
          <a:solidFill>
            <a:srgbClr val="C75B1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600" b="1" dirty="0">
                <a:solidFill>
                  <a:srgbClr val="FFFFFF"/>
                </a:solidFill>
                <a:latin typeface="Calibri" pitchFamily="34" charset="0"/>
                <a:cs typeface="Arial" pitchFamily="34" charset="0"/>
              </a:rPr>
              <a:t>Methodology Overview</a:t>
            </a: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0" name="Text Box 28"/>
          <p:cNvSpPr txBox="1">
            <a:spLocks noChangeArrowheads="1"/>
          </p:cNvSpPr>
          <p:nvPr/>
        </p:nvSpPr>
        <p:spPr bwMode="auto">
          <a:xfrm>
            <a:off x="22288191" y="10131683"/>
            <a:ext cx="10342026" cy="882872"/>
          </a:xfrm>
          <a:prstGeom prst="rect">
            <a:avLst/>
          </a:prstGeom>
          <a:solidFill>
            <a:srgbClr val="C75B1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cs typeface="Arial" pitchFamily="34" charset="0"/>
              </a:rPr>
              <a:t>Future Directions</a:t>
            </a: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 Box 28">
            <a:extLst>
              <a:ext uri="{FF2B5EF4-FFF2-40B4-BE49-F238E27FC236}">
                <a16:creationId xmlns:a16="http://schemas.microsoft.com/office/drawing/2014/main" id="{CCD49E34-F38F-8302-7B90-40F67F50B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045" y="3014210"/>
            <a:ext cx="8794942" cy="845350"/>
          </a:xfrm>
          <a:prstGeom prst="rect">
            <a:avLst/>
          </a:prstGeom>
          <a:solidFill>
            <a:srgbClr val="C75B1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600" b="1" dirty="0">
                <a:solidFill>
                  <a:srgbClr val="FFFFFF"/>
                </a:solidFill>
                <a:latin typeface="Calibri" pitchFamily="34" charset="0"/>
                <a:cs typeface="Arial" pitchFamily="34" charset="0"/>
              </a:rPr>
              <a:t>Background</a:t>
            </a: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8921A0-ADD5-402D-A0A0-DE79CBC3E470}"/>
              </a:ext>
            </a:extLst>
          </p:cNvPr>
          <p:cNvSpPr txBox="1"/>
          <p:nvPr/>
        </p:nvSpPr>
        <p:spPr>
          <a:xfrm>
            <a:off x="9109057" y="3995780"/>
            <a:ext cx="4077553" cy="48320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28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Workflow: </a:t>
            </a:r>
            <a:r>
              <a:rPr lang="en-US" sz="28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1) Download gridded precipitation data </a:t>
            </a:r>
            <a:r>
              <a:rPr lang="en-US" sz="2800" kern="100" dirty="0">
                <a:latin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 2) </a:t>
            </a:r>
            <a:r>
              <a:rPr lang="en-US" sz="28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Map each roadway segment to nearest grid cell </a:t>
            </a:r>
            <a:r>
              <a:rPr lang="en-US" sz="2800" kern="100" dirty="0">
                <a:latin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3) </a:t>
            </a:r>
            <a:r>
              <a:rPr lang="en-US" sz="28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Aggregate hourly data </a:t>
            </a:r>
            <a:r>
              <a:rPr lang="en-US" altLang="zh-CN" sz="28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to</a:t>
            </a:r>
            <a:r>
              <a:rPr lang="en-US" sz="28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 daily / monthly metrics </a:t>
            </a:r>
            <a:r>
              <a:rPr lang="en-US" sz="2800" kern="100" dirty="0">
                <a:latin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 4) </a:t>
            </a:r>
            <a:r>
              <a:rPr lang="en-US" sz="28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Link segment-day weather with crash records </a:t>
            </a:r>
            <a:r>
              <a:rPr lang="en-US" sz="2800" kern="100" dirty="0">
                <a:latin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 5) </a:t>
            </a:r>
            <a:r>
              <a:rPr lang="en-US" sz="28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Visualize results in an interactive map.</a:t>
            </a:r>
            <a:endParaRPr lang="en-US" sz="4000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6F8516-FEED-4C87-976A-5E9B8B9A64F7}"/>
              </a:ext>
            </a:extLst>
          </p:cNvPr>
          <p:cNvSpPr txBox="1"/>
          <p:nvPr/>
        </p:nvSpPr>
        <p:spPr>
          <a:xfrm>
            <a:off x="12734708" y="8548018"/>
            <a:ext cx="84127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i="1" kern="1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Workflow of Road Segments Precipitation and Visualization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67B446-AA56-47A4-81EA-10B52FDA9220}"/>
              </a:ext>
            </a:extLst>
          </p:cNvPr>
          <p:cNvSpPr/>
          <p:nvPr/>
        </p:nvSpPr>
        <p:spPr>
          <a:xfrm>
            <a:off x="22288191" y="3995780"/>
            <a:ext cx="1049816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en-US" sz="2800" dirty="0">
                <a:latin typeface="Aptos" panose="020B0004020202020204"/>
              </a:rPr>
              <a:t>To demonstrate workflow scalability, an extended application at the statewide level was conducted, processing MRMS precipitation data for the 10-day period from July 1, 2025 to July 10, 2025.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F74EE2-4E4B-415F-9C26-6F63F69B94A3}"/>
              </a:ext>
            </a:extLst>
          </p:cNvPr>
          <p:cNvSpPr txBox="1"/>
          <p:nvPr/>
        </p:nvSpPr>
        <p:spPr>
          <a:xfrm>
            <a:off x="314113" y="3930467"/>
            <a:ext cx="8794942" cy="1179002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defRPr sz="28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Motivation: </a:t>
            </a:r>
            <a:r>
              <a:rPr lang="en-US" b="0" dirty="0"/>
              <a:t>Precipitation events can adversely impact traffic safety and mobility. Analyzing fine-grained precipitation data on roadway segments is critical to explore and mitigate weather impacts.</a:t>
            </a:r>
          </a:p>
          <a:p>
            <a:r>
              <a:rPr lang="en-US" dirty="0"/>
              <a:t>G</a:t>
            </a:r>
            <a:r>
              <a:rPr lang="en-US" altLang="zh-CN" dirty="0"/>
              <a:t>ap</a:t>
            </a:r>
            <a:r>
              <a:rPr lang="en-US" b="0" dirty="0"/>
              <a:t>: Sensor-based weather datasets are available, but often lack coverage, and cross-agency integration is challenging. NOAA provides fine-grained  nation-wide gridded data. Such data requires extensive processing to derive segment-level variables.</a:t>
            </a:r>
          </a:p>
          <a:p>
            <a:r>
              <a:rPr lang="en-US" dirty="0"/>
              <a:t>Contribution: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Scalable workflow to map gridded precipitation data to the roadway network and to compute segment-level weather variables.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Interactive visualization of segment-level precipitation metrics  and crash data.</a:t>
            </a:r>
          </a:p>
          <a:p>
            <a:r>
              <a:rPr lang="en-US" dirty="0"/>
              <a:t>Data</a:t>
            </a:r>
            <a:r>
              <a:rPr lang="en-US" b="0" dirty="0"/>
              <a:t>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Precipitation: NEXRAD Stage IV (4 km, hourly) and  MRMS (1 km, 2min)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Roadway:  INRIX segments and TxDOT On-System Roadway network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Crash data: TxDOT CRIS database (mapped within    30 m of segments)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4FCA84-1028-997B-C686-491F624CEE4E}"/>
              </a:ext>
            </a:extLst>
          </p:cNvPr>
          <p:cNvSpPr txBox="1"/>
          <p:nvPr/>
        </p:nvSpPr>
        <p:spPr>
          <a:xfrm>
            <a:off x="22366260" y="14236592"/>
            <a:ext cx="10342026" cy="13415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defRPr sz="28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n-US" sz="2400" dirty="0">
                <a:solidFill>
                  <a:schemeClr val="bg1"/>
                </a:solidFill>
              </a:rPr>
              <a:t>This work was funded by Texas Department of Transportation Strategic Initiatives and Innovation Division under their Strategic Partnerships for Expedited Data Innovations (SPEDI) program (Contract No.601CT0000032793).</a:t>
            </a:r>
            <a:endParaRPr lang="en-US" sz="2400" b="0" dirty="0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904D4B-0BA1-47C1-90BD-3191FF9F3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3825" y="4007840"/>
            <a:ext cx="8945560" cy="4389120"/>
          </a:xfrm>
          <a:prstGeom prst="rect">
            <a:avLst/>
          </a:prstGeom>
        </p:spPr>
      </p:pic>
      <p:sp>
        <p:nvSpPr>
          <p:cNvPr id="20" name="Text Box 28">
            <a:extLst>
              <a:ext uri="{FF2B5EF4-FFF2-40B4-BE49-F238E27FC236}">
                <a16:creationId xmlns:a16="http://schemas.microsoft.com/office/drawing/2014/main" id="{69A30A70-35E6-40CB-9E3A-745ED5379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9055" y="10131683"/>
            <a:ext cx="12790824" cy="882872"/>
          </a:xfrm>
          <a:prstGeom prst="rect">
            <a:avLst/>
          </a:prstGeom>
          <a:solidFill>
            <a:srgbClr val="C75B1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600" b="1" kern="100" dirty="0">
                <a:solidFill>
                  <a:schemeClr val="bg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Segment-Level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cs typeface="Arial" pitchFamily="34" charset="0"/>
              </a:rPr>
              <a:t>Visualization</a:t>
            </a: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871C97-E369-4119-BD37-BB8961CDC80E}"/>
              </a:ext>
            </a:extLst>
          </p:cNvPr>
          <p:cNvSpPr txBox="1"/>
          <p:nvPr/>
        </p:nvSpPr>
        <p:spPr>
          <a:xfrm>
            <a:off x="9109056" y="11024663"/>
            <a:ext cx="1262552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Segment-level metrics showing precipitation characteristics in Travis County, aggregated across all grid cells from July 2023 to June 2024.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E5CFF0-7D47-4ED2-A8AA-B28EAEBD6A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5343" y="12049479"/>
            <a:ext cx="6687560" cy="364710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6D9AB5C-97B8-429B-AE52-9363D0E20489}"/>
              </a:ext>
            </a:extLst>
          </p:cNvPr>
          <p:cNvSpPr txBox="1"/>
          <p:nvPr/>
        </p:nvSpPr>
        <p:spPr>
          <a:xfrm>
            <a:off x="9109058" y="9137076"/>
            <a:ext cx="12625527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28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Processed Segment-Level Weather Metrics</a:t>
            </a:r>
            <a:r>
              <a:rPr lang="en-US" sz="28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: Total Precipitation, Number of Precipitation Days, Heavy Rain Days, Maximum Hourly Precipitation, Dry Spells, etc.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6DD11D-3558-4251-9D98-1EBD40ED68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67284" y="12137908"/>
            <a:ext cx="6998293" cy="340213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2CAC1EB-1CFA-4659-BD3C-D2E121772E6E}"/>
              </a:ext>
            </a:extLst>
          </p:cNvPr>
          <p:cNvSpPr txBox="1"/>
          <p:nvPr/>
        </p:nvSpPr>
        <p:spPr>
          <a:xfrm>
            <a:off x="8701009" y="15480231"/>
            <a:ext cx="60815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i="1" kern="1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The annual precipitation amount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E6020BD-E7B6-4E38-B409-9743FD758A22}"/>
              </a:ext>
            </a:extLst>
          </p:cNvPr>
          <p:cNvSpPr txBox="1"/>
          <p:nvPr/>
        </p:nvSpPr>
        <p:spPr>
          <a:xfrm>
            <a:off x="15469675" y="15475532"/>
            <a:ext cx="60815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i="1" kern="1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The total heavy rain days</a:t>
            </a:r>
          </a:p>
        </p:txBody>
      </p:sp>
      <p:sp>
        <p:nvSpPr>
          <p:cNvPr id="34" name="Text Box 28">
            <a:extLst>
              <a:ext uri="{FF2B5EF4-FFF2-40B4-BE49-F238E27FC236}">
                <a16:creationId xmlns:a16="http://schemas.microsoft.com/office/drawing/2014/main" id="{26C3E8DB-2726-4DE6-A654-2BB8A5CDE9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88191" y="3014209"/>
            <a:ext cx="10498164" cy="845350"/>
          </a:xfrm>
          <a:prstGeom prst="rect">
            <a:avLst/>
          </a:prstGeom>
          <a:solidFill>
            <a:srgbClr val="C75B1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600" b="1" kern="100" dirty="0">
                <a:solidFill>
                  <a:schemeClr val="bg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Scaling Visualization to Statewide</a:t>
            </a: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EC2D45F-BA21-4E87-AC2C-B2DEC77C80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31500" y="5438333"/>
            <a:ext cx="7735014" cy="44501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2EB83C0-8755-449D-8AD4-40A7CF5F0C30}"/>
              </a:ext>
            </a:extLst>
          </p:cNvPr>
          <p:cNvSpPr txBox="1"/>
          <p:nvPr/>
        </p:nvSpPr>
        <p:spPr>
          <a:xfrm>
            <a:off x="22852411" y="9670018"/>
            <a:ext cx="92135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kern="1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The precipitation heatmap of all district in Texas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F25272-6D30-4823-8125-A2A3B271446E}"/>
              </a:ext>
            </a:extLst>
          </p:cNvPr>
          <p:cNvSpPr txBox="1"/>
          <p:nvPr/>
        </p:nvSpPr>
        <p:spPr>
          <a:xfrm>
            <a:off x="22288191" y="11294298"/>
            <a:ext cx="1031609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ptos" panose="020B0004020202020204"/>
              </a:rPr>
              <a:t>Extend the workflow to include additional weather variables (e.g., temperature, </a:t>
            </a:r>
            <a:r>
              <a:rPr lang="en-US" sz="2800" dirty="0">
                <a:solidFill>
                  <a:srgbClr val="FF0000"/>
                </a:solidFill>
                <a:latin typeface="Aptos" panose="020B0004020202020204"/>
              </a:rPr>
              <a:t>snow/ice?</a:t>
            </a:r>
            <a:r>
              <a:rPr lang="en-US" sz="2800" dirty="0">
                <a:latin typeface="Aptos" panose="020B0004020202020204"/>
              </a:rPr>
              <a:t>, wind) and multi-year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ptos" panose="020B0004020202020204"/>
              </a:rPr>
              <a:t>Improve scalability by optimizing roadway segmentation and large-volume gridded data processing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ptos" panose="020B0004020202020204"/>
              </a:rPr>
              <a:t>Further integrate weather metrics with crashes, speeds, and operations to support weather-aware transportation management</a:t>
            </a:r>
          </a:p>
        </p:txBody>
      </p:sp>
    </p:spTree>
    <p:extLst>
      <p:ext uri="{BB962C8B-B14F-4D97-AF65-F5344CB8AC3E}">
        <p14:creationId xmlns:p14="http://schemas.microsoft.com/office/powerpoint/2010/main" val="2870413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6642</TotalTime>
  <Words>413</Words>
  <Application>Microsoft Macintosh PowerPoint</Application>
  <PresentationFormat>Custom</PresentationFormat>
  <Paragraphs>30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Ashley Williams</dc:creator>
  <cp:lastModifiedBy>RuizJuri, Natalia</cp:lastModifiedBy>
  <cp:revision>108</cp:revision>
  <dcterms:created xsi:type="dcterms:W3CDTF">2013-11-22T13:42:25Z</dcterms:created>
  <dcterms:modified xsi:type="dcterms:W3CDTF">2026-01-07T14:19:05Z</dcterms:modified>
</cp:coreProperties>
</file>